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7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457200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500" b="1">
                <a:solidFill>
                  <a:srgbClr val="27D7FF"/>
                </a:solidFill>
                <a:latin typeface="Aptos"/>
              </a:defRPr>
            </a:pPr>
            <a:r>
              <a:t>MICROSOFT TECH CLUB  •  MTC.LBS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515600" cy="1417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3800" b="1">
                <a:solidFill>
                  <a:srgbClr val="EDF6FF"/>
                </a:solidFill>
                <a:latin typeface="Aptos"/>
              </a:defRPr>
            </a:pPr>
            <a:r>
              <a:t>Git &amp; GitHub</a:t>
            </a:r>
            <a:br/>
            <a:r>
              <a:t>Contribution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9509760" cy="8229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200" b="0">
                <a:solidFill>
                  <a:srgbClr val="A9BFD8"/>
                </a:solidFill>
                <a:latin typeface="Aptos"/>
              </a:defRPr>
            </a:pPr>
            <a:r>
              <a:t>From your first Git command to a reviewed pull 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029200"/>
            <a:ext cx="4663440" cy="86868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5184648"/>
            <a:ext cx="4261103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9B5CF5"/>
                </a:solidFill>
                <a:latin typeface="Aptos"/>
              </a:defRPr>
            </a:pPr>
            <a:r>
              <a:t>PRACTICE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5596128"/>
            <a:ext cx="4261103" cy="15544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Add a personal JSON profile to the shared participant directory.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6126480"/>
            <a:ext cx="21031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000" b="0">
                <a:solidFill>
                  <a:srgbClr val="A9BFD8"/>
                </a:solidFill>
                <a:latin typeface="Aptos"/>
              </a:defRPr>
            </a:pPr>
            <a:r>
              <a:t>github.com/Noureddine88/gitsession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7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EDF6FF"/>
                </a:solidFill>
                <a:latin typeface="Aptos"/>
              </a:defRPr>
            </a:pPr>
            <a:r>
              <a:t>The collaboration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75488"/>
            <a:ext cx="502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300" b="1">
                <a:solidFill>
                  <a:srgbClr val="27D7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3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900" b="0">
                <a:solidFill>
                  <a:srgbClr val="A9BFD8"/>
                </a:solidFill>
                <a:latin typeface="Aptos"/>
              </a:defRPr>
            </a:pPr>
            <a:r>
              <a:t>MTC.LBS  |  Microsoft Tech Club  |  Git &amp; GitHub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2000" b="1">
                <a:solidFill>
                  <a:srgbClr val="27D7FF"/>
                </a:solidFill>
                <a:latin typeface="Aptos"/>
              </a:defRPr>
            </a:pPr>
            <a:r>
              <a:t>Fork  →  Clone  →  Branch  →  Add profile  →  Commit  →  Push  →  Pull request  →  Merge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4937760" cy="141732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04288"/>
            <a:ext cx="4535424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27D7FF"/>
                </a:solidFill>
                <a:latin typeface="Aptos"/>
              </a:defRPr>
            </a:pPr>
            <a:r>
              <a:t>ORIGIN = YOUR FORK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715768"/>
            <a:ext cx="4535424" cy="70408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0">
                <a:solidFill>
                  <a:srgbClr val="EDF6FF"/>
                </a:solidFill>
                <a:latin typeface="Aptos"/>
              </a:defRPr>
            </a:pPr>
            <a:r>
              <a:t>Your personal copy on GitHub. Push your working branch 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48840"/>
            <a:ext cx="4937760" cy="141732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2304288"/>
            <a:ext cx="4535424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9B5CF5"/>
                </a:solidFill>
                <a:latin typeface="Aptos"/>
              </a:defRPr>
            </a:pPr>
            <a:r>
              <a:t>UPSTREAM = ORIGINAL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715768"/>
            <a:ext cx="4535424" cy="70408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0">
                <a:solidFill>
                  <a:srgbClr val="EDF6FF"/>
                </a:solidFill>
                <a:latin typeface="Aptos"/>
              </a:defRPr>
            </a:pPr>
            <a:r>
              <a:t>The club repository. A maintainer reviews and merges your pull request here.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4114800"/>
            <a:ext cx="7589520" cy="109728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87168" y="4270248"/>
            <a:ext cx="7187184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27D7FF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4681728"/>
            <a:ext cx="7187184" cy="38404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0">
                <a:solidFill>
                  <a:srgbClr val="EDF6FF"/>
                </a:solidFill>
                <a:latin typeface="Aptos"/>
              </a:defRPr>
            </a:pPr>
            <a:r>
              <a:t>A pull request proposes a change; it does not change the original repository until a maintainer merges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7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EDF6FF"/>
                </a:solidFill>
                <a:latin typeface="Aptos"/>
              </a:defRPr>
            </a:pPr>
            <a:r>
              <a:t>Step 1 — Install and configure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75488"/>
            <a:ext cx="502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300" b="1">
                <a:solidFill>
                  <a:srgbClr val="27D7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3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900" b="0">
                <a:solidFill>
                  <a:srgbClr val="A9BFD8"/>
                </a:solidFill>
                <a:latin typeface="Aptos"/>
              </a:defRPr>
            </a:pPr>
            <a:r>
              <a:t>MTC.LBS  |  Microsoft Tech Club  |  Git &amp; GitHub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493776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0">
                <a:solidFill>
                  <a:srgbClr val="A9BFD8"/>
                </a:solidFill>
                <a:latin typeface="Aptos"/>
              </a:defRPr>
            </a:pPr>
            <a:r>
              <a:t>You need Git installed and a GitHub account.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5257800" cy="1828800"/>
          </a:xfrm>
          <a:prstGeom prst="roundRect">
            <a:avLst/>
          </a:prstGeom>
          <a:solidFill>
            <a:srgbClr val="030A13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18872" bIns="91440"/>
          <a:lstStyle/>
          <a:p>
            <a:pPr algn="ctr">
              <a:spcAft>
                <a:spcPts val="300"/>
              </a:spcAft>
              <a:defRPr sz="1400">
                <a:solidFill>
                  <a:srgbClr val="27D7FF"/>
                </a:solidFill>
                <a:latin typeface="Cascadia Code"/>
              </a:defRPr>
            </a:pPr>
            <a:r>
              <a:t>git --version</a:t>
            </a:r>
          </a:p>
          <a:p>
            <a:pPr>
              <a:spcAft>
                <a:spcPts val="300"/>
              </a:spcAft>
              <a:defRPr sz="1400">
                <a:solidFill>
                  <a:srgbClr val="27D7FF"/>
                </a:solidFill>
                <a:latin typeface="Cascadia Code"/>
              </a:defRPr>
            </a:pPr>
            <a:r>
              <a:t>git config --global user.name "Your Name"</a:t>
            </a:r>
          </a:p>
          <a:p>
            <a:pPr>
              <a:spcAft>
                <a:spcPts val="300"/>
              </a:spcAft>
              <a:defRPr sz="1400">
                <a:solidFill>
                  <a:srgbClr val="27D7FF"/>
                </a:solidFill>
                <a:latin typeface="Cascadia Code"/>
              </a:defRPr>
            </a:pPr>
            <a:r>
              <a:t>git config --global user.email "your-github-email@example.com"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00200"/>
            <a:ext cx="4846320" cy="137160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755648"/>
            <a:ext cx="4443983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27D7FF"/>
                </a:solidFill>
                <a:latin typeface="Aptos"/>
              </a:defRPr>
            </a:pPr>
            <a:r>
              <a:t>CHECK 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167128"/>
            <a:ext cx="4443983" cy="6583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500" b="0">
                <a:solidFill>
                  <a:srgbClr val="EDF6FF"/>
                </a:solidFill>
                <a:latin typeface="Aptos"/>
              </a:defRPr>
            </a:pPr>
            <a:r>
              <a:t>git --version prints your installed version. If the command is not found, install Git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337560"/>
            <a:ext cx="4846320" cy="1005840"/>
          </a:xfrm>
          <a:prstGeom prst="roundRect">
            <a:avLst/>
          </a:prstGeom>
          <a:solidFill>
            <a:srgbClr val="030A13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18872" bIns="91440"/>
          <a:lstStyle/>
          <a:p>
            <a:pPr algn="ctr">
              <a:spcAft>
                <a:spcPts val="300"/>
              </a:spcAft>
              <a:defRPr sz="1500">
                <a:solidFill>
                  <a:srgbClr val="27D7FF"/>
                </a:solidFill>
                <a:latin typeface="Cascadia Code"/>
              </a:defRPr>
            </a:pPr>
            <a:r>
              <a:t>gh auth login</a:t>
            </a:r>
          </a:p>
          <a:p>
            <a:pPr>
              <a:spcAft>
                <a:spcPts val="300"/>
              </a:spcAft>
              <a:defRPr sz="1500">
                <a:solidFill>
                  <a:srgbClr val="27D7FF"/>
                </a:solidFill>
                <a:latin typeface="Cascadia Code"/>
              </a:defRPr>
            </a:pPr>
            <a:r>
              <a:t>gh auth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526280"/>
            <a:ext cx="4572000" cy="7315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500" b="0">
                <a:solidFill>
                  <a:srgbClr val="A9BFD8"/>
                </a:solidFill>
                <a:latin typeface="Aptos"/>
              </a:defRPr>
            </a:pPr>
            <a:r>
              <a:t>GitHub CLI authentication is recommended. Never share passwords, tokens, or private keys.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7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EDF6FF"/>
                </a:solidFill>
                <a:latin typeface="Aptos"/>
              </a:defRPr>
            </a:pPr>
            <a:r>
              <a:t>Steps 2–3 — Fork, then clone your fork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75488"/>
            <a:ext cx="502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300" b="1">
                <a:solidFill>
                  <a:srgbClr val="27D7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3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900" b="0">
                <a:solidFill>
                  <a:srgbClr val="A9BFD8"/>
                </a:solidFill>
                <a:latin typeface="Aptos"/>
              </a:defRPr>
            </a:pPr>
            <a:r>
              <a:t>MTC.LBS  |  Microsoft Tech Club  |  Git &amp; GitHub Workshop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143000"/>
            <a:ext cx="4937760" cy="123444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298448"/>
            <a:ext cx="4535424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27D7FF"/>
                </a:solidFill>
                <a:latin typeface="Aptos"/>
              </a:defRPr>
            </a:pPr>
            <a:r>
              <a:t>2  FORK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709928"/>
            <a:ext cx="4535424" cy="5212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0">
                <a:solidFill>
                  <a:srgbClr val="EDF6FF"/>
                </a:solidFill>
                <a:latin typeface="Aptos"/>
              </a:defRPr>
            </a:pPr>
            <a:r>
              <a:t>On the original project page, click Fork. This creates a copy in your GitHub account.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43000"/>
            <a:ext cx="4937760" cy="123444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298448"/>
            <a:ext cx="4535424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9B5CF5"/>
                </a:solidFill>
                <a:latin typeface="Aptos"/>
              </a:defRPr>
            </a:pPr>
            <a:r>
              <a:t>KNOW YOUR REMOTES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09928"/>
            <a:ext cx="4535424" cy="5212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0">
                <a:solidFill>
                  <a:srgbClr val="EDF6FF"/>
                </a:solidFill>
                <a:latin typeface="Aptos"/>
              </a:defRPr>
            </a:pPr>
            <a:r>
              <a:t>The original project is upstream. Your personal fork will be origin after you clone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971800"/>
            <a:ext cx="10241280" cy="1234440"/>
          </a:xfrm>
          <a:prstGeom prst="roundRect">
            <a:avLst/>
          </a:prstGeom>
          <a:solidFill>
            <a:srgbClr val="030A13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18872" bIns="91440"/>
          <a:lstStyle/>
          <a:p>
            <a:pPr algn="ctr">
              <a:spcAft>
                <a:spcPts val="300"/>
              </a:spcAft>
              <a:defRPr sz="1700">
                <a:solidFill>
                  <a:srgbClr val="27D7FF"/>
                </a:solidFill>
                <a:latin typeface="Cascadia Code"/>
              </a:defRPr>
            </a:pPr>
            <a:r>
              <a:t>git clone https://github.com/YOUR_GITHUB_USERNAME/YOUR_REPOSITORY.git</a:t>
            </a:r>
          </a:p>
          <a:p>
            <a:pPr>
              <a:spcAft>
                <a:spcPts val="300"/>
              </a:spcAft>
              <a:defRPr sz="1700">
                <a:solidFill>
                  <a:srgbClr val="27D7FF"/>
                </a:solidFill>
                <a:latin typeface="Cascadia Code"/>
              </a:defRPr>
            </a:pPr>
            <a:r>
              <a:t>cd YOUR_REPOSITORY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10241280" cy="6400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0">
                <a:solidFill>
                  <a:srgbClr val="A9BFD8"/>
                </a:solidFill>
                <a:latin typeface="Aptos"/>
              </a:defRPr>
            </a:pPr>
            <a:r>
              <a:t>Replace the placeholders with your own GitHub username and repository name. Check the URL: clone your fork, not the original.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7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EDF6FF"/>
                </a:solidFill>
                <a:latin typeface="Aptos"/>
              </a:defRPr>
            </a:pPr>
            <a:r>
              <a:t>Step 4 — Create a branch for your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75488"/>
            <a:ext cx="502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300" b="1">
                <a:solidFill>
                  <a:srgbClr val="27D7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3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900" b="0">
                <a:solidFill>
                  <a:srgbClr val="A9BFD8"/>
                </a:solidFill>
                <a:latin typeface="Aptos"/>
              </a:defRPr>
            </a:pPr>
            <a:r>
              <a:t>MTC.LBS  |  Microsoft Tech Club  |  Git &amp; GitHub Workshop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241280" cy="777240"/>
          </a:xfrm>
          <a:prstGeom prst="roundRect">
            <a:avLst/>
          </a:prstGeom>
          <a:solidFill>
            <a:srgbClr val="030A13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18872" bIns="91440"/>
          <a:lstStyle/>
          <a:p>
            <a:pPr algn="ctr">
              <a:spcAft>
                <a:spcPts val="300"/>
              </a:spcAft>
              <a:defRPr sz="2000">
                <a:solidFill>
                  <a:srgbClr val="27D7FF"/>
                </a:solidFill>
                <a:latin typeface="Cascadia Code"/>
              </a:defRPr>
            </a:pPr>
            <a:r>
              <a:t>git switch -c add-YOUR_GITHUB_USERNAME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788920"/>
            <a:ext cx="4892040" cy="150876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944368"/>
            <a:ext cx="4489703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27D7FF"/>
                </a:solidFill>
                <a:latin typeface="Aptos"/>
              </a:defRPr>
            </a:pPr>
            <a:r>
              <a:t>WHY A BRANCH?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355848"/>
            <a:ext cx="4489703" cy="79552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0">
                <a:solidFill>
                  <a:srgbClr val="EDF6FF"/>
                </a:solidFill>
                <a:latin typeface="Aptos"/>
              </a:defRPr>
            </a:pPr>
            <a:r>
              <a:t>A branch keeps your work separate from main. Each person can work safely and maintainers can review changes before merging.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788920"/>
            <a:ext cx="4892040" cy="150876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2944368"/>
            <a:ext cx="4489703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9B5CF5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3355848"/>
            <a:ext cx="4489703" cy="79552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0">
                <a:solidFill>
                  <a:srgbClr val="EDF6FF"/>
                </a:solidFill>
                <a:latin typeface="Aptos"/>
              </a:defRPr>
            </a:pPr>
            <a:r>
              <a:t>Git creates and switches to your new branch. If the name already exists, switch to it or choose a unique name.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7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EDF6FF"/>
                </a:solidFill>
                <a:latin typeface="Aptos"/>
              </a:defRPr>
            </a:pPr>
            <a:r>
              <a:t>Step 5 — Add your participant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75488"/>
            <a:ext cx="502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300" b="1">
                <a:solidFill>
                  <a:srgbClr val="27D7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3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900" b="0">
                <a:solidFill>
                  <a:srgbClr val="A9BFD8"/>
                </a:solidFill>
                <a:latin typeface="Aptos"/>
              </a:defRPr>
            </a:pPr>
            <a:r>
              <a:t>MTC.LBS  |  Microsoft Tech Club  |  Git &amp; GitHub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05840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0">
                <a:solidFill>
                  <a:srgbClr val="A9BFD8"/>
                </a:solidFill>
                <a:latin typeface="Aptos"/>
              </a:defRPr>
            </a:pPr>
            <a:r>
              <a:t>Create this file in a text editor: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91640"/>
            <a:ext cx="5074920" cy="594360"/>
          </a:xfrm>
          <a:prstGeom prst="roundRect">
            <a:avLst/>
          </a:prstGeom>
          <a:solidFill>
            <a:srgbClr val="030A13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18872" bIns="91440"/>
          <a:lstStyle/>
          <a:p>
            <a:pPr algn="ctr">
              <a:spcAft>
                <a:spcPts val="300"/>
              </a:spcAft>
              <a:defRPr sz="1600">
                <a:solidFill>
                  <a:srgbClr val="27D7FF"/>
                </a:solidFill>
                <a:latin typeface="Cascadia Code"/>
              </a:defRPr>
            </a:pPr>
            <a:r>
              <a:t>participants/YOUR_GITHUB_USERNAME.json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06040"/>
            <a:ext cx="6400800" cy="2011680"/>
          </a:xfrm>
          <a:prstGeom prst="roundRect">
            <a:avLst/>
          </a:prstGeom>
          <a:solidFill>
            <a:srgbClr val="030A13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18872" bIns="91440"/>
          <a:lstStyle/>
          <a:p>
            <a:pPr algn="ctr">
              <a:spcAft>
                <a:spcPts val="300"/>
              </a:spcAft>
              <a:defRPr sz="1600">
                <a:solidFill>
                  <a:srgbClr val="27D7FF"/>
                </a:solidFill>
                <a:latin typeface="Cascadia Code"/>
              </a:defRPr>
            </a:pPr>
            <a:r>
              <a:t>{</a:t>
            </a:r>
          </a:p>
          <a:p>
            <a:pPr>
              <a:spcAft>
                <a:spcPts val="300"/>
              </a:spcAft>
              <a:defRPr sz="1600">
                <a:solidFill>
                  <a:srgbClr val="27D7FF"/>
                </a:solidFill>
                <a:latin typeface="Cascadia Code"/>
              </a:defRPr>
            </a:pPr>
            <a:r>
              <a:t>  "name": "Your Full Name",</a:t>
            </a:r>
          </a:p>
          <a:p>
            <a:pPr>
              <a:spcAft>
                <a:spcPts val="300"/>
              </a:spcAft>
              <a:defRPr sz="1600">
                <a:solidFill>
                  <a:srgbClr val="27D7FF"/>
                </a:solidFill>
                <a:latin typeface="Cascadia Code"/>
              </a:defRPr>
            </a:pPr>
            <a:r>
              <a:t>  "city": "Your City",</a:t>
            </a:r>
          </a:p>
          <a:p>
            <a:pPr>
              <a:spcAft>
                <a:spcPts val="300"/>
              </a:spcAft>
              <a:defRPr sz="1600">
                <a:solidFill>
                  <a:srgbClr val="27D7FF"/>
                </a:solidFill>
                <a:latin typeface="Cascadia Code"/>
              </a:defRPr>
            </a:pPr>
            <a:r>
              <a:t>  "fundact": "Your Main Technical Interest"</a:t>
            </a:r>
          </a:p>
          <a:p>
            <a:pPr>
              <a:spcAft>
                <a:spcPts val="300"/>
              </a:spcAft>
              <a:defRPr sz="1600">
                <a:solidFill>
                  <a:srgbClr val="27D7FF"/>
                </a:solidFill>
                <a:latin typeface="Cascadia Code"/>
              </a:defRPr>
            </a:pPr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606040"/>
            <a:ext cx="3566160" cy="201168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2761488"/>
            <a:ext cx="3163824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9B5CF5"/>
                </a:solidFill>
                <a:latin typeface="Aptos"/>
              </a:defRPr>
            </a:pPr>
            <a:r>
              <a:t>JSON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3172968"/>
            <a:ext cx="3163824" cy="12984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500" b="0">
                <a:solidFill>
                  <a:srgbClr val="EDF6FF"/>
                </a:solidFill>
                <a:latin typeface="Aptos"/>
              </a:defRPr>
            </a:pPr>
            <a:r>
              <a:t>Use double quotes. Separate fields with commas; no comma after the last field. Match the filename to your GitHub username. Never add secrets or private information.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7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EDF6FF"/>
                </a:solidFill>
                <a:latin typeface="Aptos"/>
              </a:defRPr>
            </a:pPr>
            <a:r>
              <a:t>Steps 6–7 — Inspect and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75488"/>
            <a:ext cx="502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300" b="1">
                <a:solidFill>
                  <a:srgbClr val="27D7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3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900" b="0">
                <a:solidFill>
                  <a:srgbClr val="A9BFD8"/>
                </a:solidFill>
                <a:latin typeface="Aptos"/>
              </a:defRPr>
            </a:pPr>
            <a:r>
              <a:t>MTC.LBS  |  Microsoft Tech Club  |  Git &amp; GitHub Workshop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4983480" cy="914400"/>
          </a:xfrm>
          <a:prstGeom prst="roundRect">
            <a:avLst/>
          </a:prstGeom>
          <a:solidFill>
            <a:srgbClr val="030A13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18872" bIns="91440"/>
          <a:lstStyle/>
          <a:p>
            <a:pPr algn="ctr">
              <a:spcAft>
                <a:spcPts val="300"/>
              </a:spcAft>
              <a:defRPr sz="1800">
                <a:solidFill>
                  <a:srgbClr val="27D7FF"/>
                </a:solidFill>
                <a:latin typeface="Cascadia Code"/>
              </a:defRPr>
            </a:pPr>
            <a:r>
              <a:t>git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4937760" cy="114300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572768"/>
            <a:ext cx="4535424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27D7FF"/>
                </a:solidFill>
                <a:latin typeface="Aptos"/>
              </a:defRPr>
            </a:pPr>
            <a:r>
              <a:t>6  INSPECT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984248"/>
            <a:ext cx="4535424" cy="4297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500" b="0">
                <a:solidFill>
                  <a:srgbClr val="EDF6FF"/>
                </a:solidFill>
                <a:latin typeface="Aptos"/>
              </a:defRPr>
            </a:pPr>
            <a:r>
              <a:t>The new file normally appears as untracked. Terminal colors vary by theme.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971800"/>
            <a:ext cx="4983480" cy="914400"/>
          </a:xfrm>
          <a:prstGeom prst="roundRect">
            <a:avLst/>
          </a:prstGeom>
          <a:solidFill>
            <a:srgbClr val="030A13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18872" bIns="91440"/>
          <a:lstStyle/>
          <a:p>
            <a:pPr algn="ctr">
              <a:spcAft>
                <a:spcPts val="300"/>
              </a:spcAft>
              <a:defRPr sz="1500">
                <a:solidFill>
                  <a:srgbClr val="27D7FF"/>
                </a:solidFill>
                <a:latin typeface="Cascadia Code"/>
              </a:defRPr>
            </a:pPr>
            <a:r>
              <a:t>git add participants/YOUR_GITHUB_USERNAME.json</a:t>
            </a:r>
          </a:p>
          <a:p>
            <a:pPr>
              <a:spcAft>
                <a:spcPts val="300"/>
              </a:spcAft>
              <a:defRPr sz="1500">
                <a:solidFill>
                  <a:srgbClr val="27D7FF"/>
                </a:solidFill>
                <a:latin typeface="Cascadia Code"/>
              </a:defRPr>
            </a:pPr>
            <a:r>
              <a:t>git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834640"/>
            <a:ext cx="4937760" cy="141732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990088"/>
            <a:ext cx="4535424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9B5CF5"/>
                </a:solidFill>
                <a:latin typeface="Aptos"/>
              </a:defRPr>
            </a:pPr>
            <a:r>
              <a:t>7  STAGE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401568"/>
            <a:ext cx="4535424" cy="70408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500" b="0">
                <a:solidFill>
                  <a:srgbClr val="EDF6FF"/>
                </a:solidFill>
                <a:latin typeface="Aptos"/>
              </a:defRPr>
            </a:pPr>
            <a:r>
              <a:t>Staging marks the exact file for your next commit. Verify the staged filename in git status before continuing.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7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EDF6FF"/>
                </a:solidFill>
                <a:latin typeface="Aptos"/>
              </a:defRPr>
            </a:pPr>
            <a:r>
              <a:t>Step 8 — Commit your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75488"/>
            <a:ext cx="502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300" b="1">
                <a:solidFill>
                  <a:srgbClr val="27D7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3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900" b="0">
                <a:solidFill>
                  <a:srgbClr val="A9BFD8"/>
                </a:solidFill>
                <a:latin typeface="Aptos"/>
              </a:defRPr>
            </a:pPr>
            <a:r>
              <a:t>MTC.LBS  |  Microsoft Tech Club  |  Git &amp; GitHub Workshop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332720" cy="1234440"/>
          </a:xfrm>
          <a:prstGeom prst="roundRect">
            <a:avLst/>
          </a:prstGeom>
          <a:solidFill>
            <a:srgbClr val="030A13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18872" bIns="91440"/>
          <a:lstStyle/>
          <a:p>
            <a:pPr algn="ctr">
              <a:spcAft>
                <a:spcPts val="300"/>
              </a:spcAft>
              <a:defRPr sz="1600">
                <a:solidFill>
                  <a:srgbClr val="27D7FF"/>
                </a:solidFill>
                <a:latin typeface="Cascadia Code"/>
              </a:defRPr>
            </a:pPr>
            <a:r>
              <a:t>git commit -m "Add YOUR_GITHUB_USERNAME as a participant"</a:t>
            </a:r>
          </a:p>
          <a:p>
            <a:pPr>
              <a:spcAft>
                <a:spcPts val="300"/>
              </a:spcAft>
              <a:defRPr sz="1600">
                <a:solidFill>
                  <a:srgbClr val="27D7FF"/>
                </a:solidFill>
                <a:latin typeface="Cascadia Code"/>
              </a:defRPr>
            </a:pPr>
            <a:r>
              <a:t>git log -1 --oneline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46120"/>
            <a:ext cx="4846320" cy="132588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4443983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27D7FF"/>
                </a:solidFill>
                <a:latin typeface="Aptos"/>
              </a:defRPr>
            </a:pPr>
            <a:r>
              <a:t>WHAT IS A COMMIT?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813048"/>
            <a:ext cx="4443983" cy="61264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0">
                <a:solidFill>
                  <a:srgbClr val="EDF6FF"/>
                </a:solidFill>
                <a:latin typeface="Aptos"/>
              </a:defRPr>
            </a:pPr>
            <a:r>
              <a:t>A saved snapshot of staged work with a message explaining what changed.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246120"/>
            <a:ext cx="4846320" cy="132588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3401568"/>
            <a:ext cx="4443983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9B5CF5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3813048"/>
            <a:ext cx="4443983" cy="61264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500" b="0">
                <a:solidFill>
                  <a:srgbClr val="EDF6FF"/>
                </a:solidFill>
                <a:latin typeface="Aptos"/>
              </a:defRPr>
            </a:pPr>
            <a:r>
              <a:t>Git reports the commit summary. git log -1 --oneline shows the new commit at the top.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7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EDF6FF"/>
                </a:solidFill>
                <a:latin typeface="Aptos"/>
              </a:defRPr>
            </a:pPr>
            <a:r>
              <a:t>Step 9 — Push your branch to origin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75488"/>
            <a:ext cx="502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300" b="1">
                <a:solidFill>
                  <a:srgbClr val="27D7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3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900" b="0">
                <a:solidFill>
                  <a:srgbClr val="A9BFD8"/>
                </a:solidFill>
                <a:latin typeface="Aptos"/>
              </a:defRPr>
            </a:pPr>
            <a:r>
              <a:t>MTC.LBS  |  Microsoft Tech Club  |  Git &amp; GitHub Workshop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241280" cy="822960"/>
          </a:xfrm>
          <a:prstGeom prst="roundRect">
            <a:avLst/>
          </a:prstGeom>
          <a:solidFill>
            <a:srgbClr val="030A13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18872" bIns="91440"/>
          <a:lstStyle/>
          <a:p>
            <a:pPr algn="ctr">
              <a:spcAft>
                <a:spcPts val="300"/>
              </a:spcAft>
              <a:defRPr sz="2000">
                <a:solidFill>
                  <a:srgbClr val="27D7FF"/>
                </a:solidFill>
                <a:latin typeface="Cascadia Code"/>
              </a:defRPr>
            </a:pPr>
            <a:r>
              <a:t>git push -u origin add-YOUR_GITHUB_USERNAME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71800"/>
            <a:ext cx="3383280" cy="137160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3127248"/>
            <a:ext cx="2980944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27D7FF"/>
                </a:solidFill>
                <a:latin typeface="Aptos"/>
              </a:defRPr>
            </a:pPr>
            <a:r>
              <a:t>origin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38728"/>
            <a:ext cx="2980944" cy="6583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0">
                <a:solidFill>
                  <a:srgbClr val="EDF6FF"/>
                </a:solidFill>
                <a:latin typeface="Aptos"/>
              </a:defRPr>
            </a:pPr>
            <a:r>
              <a:t>Your personal fork on GitHub.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971800"/>
            <a:ext cx="3383280" cy="137160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127248"/>
            <a:ext cx="2980944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9B5CF5"/>
                </a:solidFill>
                <a:latin typeface="Aptos"/>
              </a:defRPr>
            </a:pPr>
            <a:r>
              <a:t>push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538728"/>
            <a:ext cx="2980944" cy="6583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0">
                <a:solidFill>
                  <a:srgbClr val="EDF6FF"/>
                </a:solidFill>
                <a:latin typeface="Aptos"/>
              </a:defRPr>
            </a:pPr>
            <a:r>
              <a:t>Send your local branch and commits to GitHub.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971800"/>
            <a:ext cx="3383280" cy="137160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3127248"/>
            <a:ext cx="2980944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27D7FF"/>
                </a:solidFill>
                <a:latin typeface="Aptos"/>
              </a:defRPr>
            </a:pPr>
            <a:r>
              <a:t>-u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3538728"/>
            <a:ext cx="2980944" cy="6583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500" b="0">
                <a:solidFill>
                  <a:srgbClr val="EDF6FF"/>
                </a:solidFill>
                <a:latin typeface="Aptos"/>
              </a:defRPr>
            </a:pPr>
            <a:r>
              <a:t>Set tracking so future pushes know which remote branch to update.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7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EDF6FF"/>
                </a:solidFill>
                <a:latin typeface="Aptos"/>
              </a:defRPr>
            </a:pPr>
            <a:r>
              <a:t>Step 10 — Open a pull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75488"/>
            <a:ext cx="502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300" b="1">
                <a:solidFill>
                  <a:srgbClr val="27D7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3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900" b="0">
                <a:solidFill>
                  <a:srgbClr val="A9BFD8"/>
                </a:solidFill>
                <a:latin typeface="Aptos"/>
              </a:defRPr>
            </a:pPr>
            <a:r>
              <a:t>MTC.LBS  |  Microsoft Tech Club  |  Git &amp; GitHub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97280"/>
            <a:ext cx="1005840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0">
                <a:solidFill>
                  <a:srgbClr val="A9BFD8"/>
                </a:solidFill>
                <a:latin typeface="Aptos"/>
              </a:defRPr>
            </a:pPr>
            <a:r>
              <a:t>On GitHub, compare your pushed branch with the original project: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4846320" cy="146304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84248"/>
            <a:ext cx="4443983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27D7FF"/>
                </a:solidFill>
                <a:latin typeface="Aptos"/>
              </a:defRPr>
            </a:pPr>
            <a:r>
              <a:t>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95728"/>
            <a:ext cx="4443983" cy="7498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0">
                <a:solidFill>
                  <a:srgbClr val="EDF6FF"/>
                </a:solidFill>
                <a:latin typeface="Aptos"/>
              </a:defRPr>
            </a:pPr>
            <a:r>
              <a:t>Repository: original club repository</a:t>
            </a:r>
            <a:br/>
            <a:r>
              <a:t>Branch: main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4846320" cy="146304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984248"/>
            <a:ext cx="4443983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9B5CF5"/>
                </a:solidFill>
                <a:latin typeface="Aptos"/>
              </a:defRPr>
            </a:pPr>
            <a:r>
              <a:t>COMPARE /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395728"/>
            <a:ext cx="4443983" cy="7498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0">
                <a:solidFill>
                  <a:srgbClr val="EDF6FF"/>
                </a:solidFill>
                <a:latin typeface="Aptos"/>
              </a:defRPr>
            </a:pPr>
            <a:r>
              <a:t>Repository: your fork</a:t>
            </a:r>
            <a:br/>
            <a:r>
              <a:t>Branch: add-YOUR_GITHUB_USERNAME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EDF6FF"/>
                </a:solidFill>
                <a:latin typeface="Aptos"/>
              </a:defRPr>
            </a:pPr>
            <a:r>
              <a:t>Review the file changes and submit the pull request. A repository owner or authorized maintainer checks it and merges it into the original main branch.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7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EDF6FF"/>
                </a:solidFill>
                <a:latin typeface="Aptos"/>
              </a:defRPr>
            </a:pPr>
            <a:r>
              <a:t>Step 11 — Update from the original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75488"/>
            <a:ext cx="502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300" b="1">
                <a:solidFill>
                  <a:srgbClr val="27D7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3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900" b="0">
                <a:solidFill>
                  <a:srgbClr val="A9BFD8"/>
                </a:solidFill>
                <a:latin typeface="Aptos"/>
              </a:defRPr>
            </a:pPr>
            <a:r>
              <a:t>MTC.LBS  |  Microsoft Tech Club  |  Git &amp; GitHub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51560"/>
            <a:ext cx="1024128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0">
                <a:solidFill>
                  <a:srgbClr val="A9BFD8"/>
                </a:solidFill>
                <a:latin typeface="Aptos"/>
              </a:defRPr>
            </a:pPr>
            <a:r>
              <a:t>A pull does not send your fork’s changes into the original repository. The PR must be merged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10241280" cy="1828800"/>
          </a:xfrm>
          <a:prstGeom prst="roundRect">
            <a:avLst/>
          </a:prstGeom>
          <a:solidFill>
            <a:srgbClr val="030A13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18872" bIns="91440"/>
          <a:lstStyle/>
          <a:p>
            <a:pPr algn="ctr">
              <a:spcAft>
                <a:spcPts val="300"/>
              </a:spcAft>
              <a:defRPr sz="1500">
                <a:solidFill>
                  <a:srgbClr val="27D7FF"/>
                </a:solidFill>
                <a:latin typeface="Cascadia Code"/>
              </a:defRPr>
            </a:pPr>
            <a:r>
              <a:t>git remote add upstream https://github.com/ORIGINAL_OWNER/ORIGINAL_REPOSITORY.git</a:t>
            </a:r>
          </a:p>
          <a:p>
            <a:pPr>
              <a:spcAft>
                <a:spcPts val="300"/>
              </a:spcAft>
              <a:defRPr sz="1500">
                <a:solidFill>
                  <a:srgbClr val="27D7FF"/>
                </a:solidFill>
                <a:latin typeface="Cascadia Code"/>
              </a:defRPr>
            </a:pPr>
            <a:r>
              <a:t>git fetch upstream</a:t>
            </a:r>
          </a:p>
          <a:p>
            <a:pPr>
              <a:spcAft>
                <a:spcPts val="300"/>
              </a:spcAft>
              <a:defRPr sz="1500">
                <a:solidFill>
                  <a:srgbClr val="27D7FF"/>
                </a:solidFill>
                <a:latin typeface="Cascadia Code"/>
              </a:defRPr>
            </a:pPr>
            <a:r>
              <a:t>git switch main</a:t>
            </a:r>
          </a:p>
          <a:p>
            <a:pPr>
              <a:spcAft>
                <a:spcPts val="300"/>
              </a:spcAft>
              <a:defRPr sz="1500">
                <a:solidFill>
                  <a:srgbClr val="27D7FF"/>
                </a:solidFill>
                <a:latin typeface="Cascadia Code"/>
              </a:defRPr>
            </a:pPr>
            <a:r>
              <a:t>git pull upstream 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160520"/>
            <a:ext cx="4846320" cy="123444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4315968"/>
            <a:ext cx="4443983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27D7FF"/>
                </a:solidFill>
                <a:latin typeface="Aptos"/>
              </a:defRPr>
            </a:pPr>
            <a:r>
              <a:t>WHAT THESE 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4727448"/>
            <a:ext cx="4443983" cy="5212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upstream names the original repo; fetch downloads its updates; pull updates your local main branch.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160520"/>
            <a:ext cx="4846320" cy="123444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4315968"/>
            <a:ext cx="4443983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9B5CF5"/>
                </a:solidFill>
                <a:latin typeface="Aptos"/>
              </a:defRPr>
            </a:pPr>
            <a:r>
              <a:t>MAINTAINER CLONED ORIGINAL?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4727448"/>
            <a:ext cx="4443983" cy="5212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If origin already points to the original repository, use: git pull origin main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7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EDF6FF"/>
                </a:solidFill>
                <a:latin typeface="Aptos"/>
              </a:defRPr>
            </a:pPr>
            <a:r>
              <a:t>Before you finish — Check, troubleshoot, stay 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75488"/>
            <a:ext cx="502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300" b="1">
                <a:solidFill>
                  <a:srgbClr val="27D7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3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900" b="0">
                <a:solidFill>
                  <a:srgbClr val="A9BFD8"/>
                </a:solidFill>
                <a:latin typeface="Aptos"/>
              </a:defRPr>
            </a:pPr>
            <a:r>
              <a:t>MTC.LBS  |  Microsoft Tech Club  |  Git &amp; GitHub Workshop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143000"/>
            <a:ext cx="5029200" cy="182880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298448"/>
            <a:ext cx="4626864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27D7FF"/>
                </a:solidFill>
                <a:latin typeface="Aptos"/>
              </a:defRPr>
            </a:pPr>
            <a:r>
              <a:t>COMMON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709928"/>
            <a:ext cx="4626864" cy="11155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500" b="0">
                <a:solidFill>
                  <a:srgbClr val="EDF6FF"/>
                </a:solidFill>
                <a:latin typeface="Aptos"/>
              </a:defRPr>
            </a:pPr>
            <a:r>
              <a:t>No changes? Save the file in participants/ and run git status.</a:t>
            </a:r>
            <a:br/>
            <a:r>
              <a:t>Push rejected? Check git remote -v and fetch/pull latest upstream changes.</a:t>
            </a:r>
            <a:br/>
            <a:r>
              <a:t>PR target wrong? Confirm base is original repository / main.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029200" cy="1828800"/>
          </a:xfrm>
          <a:prstGeom prst="roundRect">
            <a:avLst/>
          </a:prstGeom>
          <a:solidFill>
            <a:srgbClr val="121D30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298448"/>
            <a:ext cx="4626864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1">
                <a:solidFill>
                  <a:srgbClr val="9B5CF5"/>
                </a:solidFill>
                <a:latin typeface="Aptos"/>
              </a:defRPr>
            </a:pPr>
            <a:r>
              <a:t>KEEP THE REPO SAFE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709928"/>
            <a:ext cx="4626864" cy="11155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500" b="0">
                <a:solidFill>
                  <a:srgbClr val="EDF6FF"/>
                </a:solidFill>
                <a:latin typeface="Aptos"/>
              </a:defRPr>
            </a:pPr>
            <a:r>
              <a:t>Never push directly to the original without permission. Never overwrite another participant’s file. Use one username-based JSON file per person. Do not commit passwords, tokens, keys, or sensitive details.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840480"/>
            <a:ext cx="10241280" cy="914400"/>
          </a:xfrm>
          <a:prstGeom prst="roundRect">
            <a:avLst/>
          </a:prstGeom>
          <a:solidFill>
            <a:srgbClr val="030A13"/>
          </a:solidFill>
          <a:ln>
            <a:solidFill>
              <a:srgbClr val="30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18872" bIns="91440"/>
          <a:lstStyle/>
          <a:p>
            <a:pPr algn="ctr">
              <a:spcAft>
                <a:spcPts val="300"/>
              </a:spcAft>
              <a:defRPr sz="1600">
                <a:solidFill>
                  <a:srgbClr val="27D7FF"/>
                </a:solidFill>
                <a:latin typeface="Cascadia Code"/>
              </a:defRPr>
            </a:pPr>
            <a:r>
              <a:t>git remote -v</a:t>
            </a:r>
          </a:p>
          <a:p>
            <a:pPr>
              <a:spcAft>
                <a:spcPts val="300"/>
              </a:spcAft>
              <a:defRPr sz="1600">
                <a:solidFill>
                  <a:srgbClr val="27D7FF"/>
                </a:solidFill>
                <a:latin typeface="Cascadia Code"/>
              </a:defRPr>
            </a:pPr>
            <a:r>
              <a:t>git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600" b="0">
                <a:solidFill>
                  <a:srgbClr val="A9BFD8"/>
                </a:solidFill>
                <a:latin typeface="Aptos"/>
              </a:defRPr>
            </a:pPr>
            <a:r>
              <a:t>After merge, the manifest workflow regenerates the participant list; the GitHub Pages site then displays the new profile.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